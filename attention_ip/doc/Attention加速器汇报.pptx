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基础版</c:v>
          </c:tx>
          <c:spPr>
            <a:solidFill>
              <a:srgbClr val="C66A1A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总周期</c:v>
              </c:pt>
              <c:pt idx="1">
                <c:v>计算阶段</c:v>
              </c:pt>
              <c:pt idx="2">
                <c:v>DOT 与 NEXT</c:v>
              </c:pt>
            </c:strLit>
          </c:cat>
          <c:val>
            <c:numLit>
              <c:formatCode>0</c:formatCode>
              <c:ptCount val="3"/>
              <c:pt idx="0">
                <c:v>107</c:v>
              </c:pt>
              <c:pt idx="1">
                <c:v>71</c:v>
              </c:pt>
              <c:pt idx="2">
                <c:v>40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312-4715-AC3D-F8CEA9B3F66D}"/>
            </c:ext>
          </c:extLst>
        </c:ser>
        <c:ser>
          <c:idx val="1"/>
          <c:order val="1"/>
          <c:tx>
            <c:v>并行版</c:v>
          </c:tx>
          <c:spPr>
            <a:solidFill>
              <a:srgbClr val="2D6F9F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总周期</c:v>
              </c:pt>
              <c:pt idx="1">
                <c:v>计算阶段</c:v>
              </c:pt>
              <c:pt idx="2">
                <c:v>DOT 与 NEXT</c:v>
              </c:pt>
            </c:strLit>
          </c:cat>
          <c:val>
            <c:numLit>
              <c:formatCode>0</c:formatCode>
              <c:ptCount val="3"/>
              <c:pt idx="0">
                <c:v>75</c:v>
              </c:pt>
              <c:pt idx="1">
                <c:v>39</c:v>
              </c:pt>
              <c:pt idx="2">
                <c:v>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312-4715-AC3D-F8CEA9B3F66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20"/>
          <c:min val="0"/>
        </c:scaling>
        <c:delete val="0"/>
        <c:axPos val="l"/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  <a:ln w="9525">
          <a:solidFill>
            <a:srgbClr val="D4DEE7"/>
          </a:solidFill>
        </a:ln>
      </c:spPr>
    </c:plotArea>
    <c:legend>
      <c:legendPos val="b"/>
      <c:overlay val="0"/>
      <c:txPr>
        <a:bodyPr anchorCtr="1"/>
        <a:lstStyle/>
        <a:p>
          <a:pPr>
            <a:defRPr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4DEE7"/>
      </a:solidFill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开场说明本项目完成固定规模 Attention RTL、验证流程以及加分项 E 和 F。主体汇报约 6 分钟。</a:t>
            </a:r>
          </a:p>
          <a:p>
            <a:r>
              <a:t>来源：项目 RTL、testbench、Golden Model 与题目说明。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说明三步计算：点积得到 Score，稳定 Softmax 得到 Weight，最后对 V 加权并归一化。固定规模来自题目要求。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按数据流解释单模块结构。重点说明 token 计数既决定 K 地址，也决定 Score Buffer 的写位置。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状态表给出无空拍时的逻辑周期。50 MHz 只是 testbench 时钟，不能替代综合后的最高频率。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基础验证结果来自 compile.log、simulation.log、lut_generation.log 与四组 Golden JSON。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加分项 A 来自 bonus/cause_effect_mask。说明 query_index、MAX 排除、EXP 清零和4组独立测试。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加分项 B 来自 bonus/parallel。4组输出与基础版一致，COMPUTE_CYCLES=39；无输入空拍时 TOTAL_CYCLES=75。资源为RTL结构对比，未做综合。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总结基础设计、因果 Mask 和四路并行点积。强调 A 的正确性边界以及 B 的周期收益与未综合资源边界。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E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76F57E2-7FE8-4B2D-B245-AAAFEDD58D13}"/>
              </a:ext>
            </a:extLst>
          </p:cNvPr>
          <p:cNvSpPr>
            <a:spLocks noGrp="1"/>
          </p:cNvSpPr>
          <p:nvPr/>
        </p:nvSpPr>
        <p:spPr>
          <a:xfrm>
            <a:off x="685800" y="2476501"/>
            <a:ext cx="10001250" cy="95250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		Attention 加速器 RTL IP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603D53-2540-46BC-807C-00947DBD6FC4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7239000" cy="523875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2175" b="0">
                <a:solidFill>
                  <a:srgbClr val="D9E8F3"/>
                </a:solidFill>
                <a:latin typeface="Microsoft YaHei"/>
                <a:ea typeface="Microsoft YaHei"/>
                <a:cs typeface="Microsoft YaHei"/>
              </a:defRPr>
            </a:pPr>
            <a:endParaRPr sz="2175" b="0">
              <a:solidFill>
                <a:srgbClr val="D9E8F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6B7106-96D6-4E16-A6DD-59BC26F4D914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1575" b="0">
                <a:solidFill>
                  <a:srgbClr val="B9D2E4"/>
                </a:solidFill>
                <a:latin typeface="Microsoft YaHei"/>
                <a:ea typeface="Microsoft YaHei"/>
                <a:cs typeface="Microsoft YaHei"/>
              </a:defRPr>
            </a:pPr>
            <a:endParaRPr sz="1575" b="0">
              <a:solidFill>
                <a:srgbClr val="B9D2E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ABE44A-F221-4BDA-862D-B7C7A5DDE982}"/>
              </a:ext>
            </a:extLst>
          </p:cNvPr>
          <p:cNvSpPr>
            <a:spLocks noGrp="1"/>
          </p:cNvSpPr>
          <p:nvPr/>
        </p:nvSpPr>
        <p:spPr>
          <a:xfrm>
            <a:off x="723900" y="4810125"/>
            <a:ext cx="9906000" cy="4000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endParaRPr sz="1500" b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867BCE-D329-9E6B-2860-BE5861431315}"/>
              </a:ext>
            </a:extLst>
          </p:cNvPr>
          <p:cNvSpPr>
            <a:spLocks noGrp="1"/>
          </p:cNvSpPr>
          <p:nvPr/>
        </p:nvSpPr>
        <p:spPr>
          <a:xfrm>
            <a:off x="349804" y="5739884"/>
            <a:ext cx="2074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1"/>
                </a:solidFill>
              </a:rPr>
              <a:t>汇报人：林文乐</a:t>
            </a:r>
          </a:p>
        </p:txBody>
      </p:sp>
    </p:spTree>
    <p:extLst>
      <p:ext uri="{BB962C8B-B14F-4D97-AF65-F5344CB8AC3E}">
        <p14:creationId xmlns:p14="http://schemas.microsoft.com/office/powerpoint/2010/main" val="1741270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F307810-B4AC-4AB5-9F38-68C075D4786D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255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算法与任务规格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8BE512-073C-4255-B6D9-04E32D847C02}"/>
              </a:ext>
            </a:extLst>
          </p:cNvPr>
          <p:cNvSpPr>
            <a:spLocks noGrp="1"/>
          </p:cNvSpPr>
          <p:nvPr/>
        </p:nvSpPr>
        <p:spPr>
          <a:xfrm>
            <a:off x="11334750" y="4000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r">
              <a:buNone/>
              <a:defRPr sz="1200" b="1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A5B5B7C-1FCD-414F-B20B-41FDB10FDB3B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11049000" cy="0"/>
          </a:xfrm>
          <a:prstGeom prst="line">
            <a:avLst/>
          </a:prstGeom>
          <a:noFill/>
          <a:ln w="11430">
            <a:solidFill>
              <a:srgbClr val="D4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83DE64-F43F-461B-A10B-C871B1F56B60}"/>
              </a:ext>
            </a:extLst>
          </p:cNvPr>
          <p:cNvSpPr>
            <a:spLocks noGrp="1"/>
          </p:cNvSpPr>
          <p:nvPr/>
        </p:nvSpPr>
        <p:spPr>
          <a:xfrm>
            <a:off x="666750" y="1143000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18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dirty="0" err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Softmax</a:t>
            </a:r>
            <a:endParaRPr sz="1800" b="1" dirty="0">
              <a:solidFill>
                <a:srgbClr val="173E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0AEE36-A706-42E8-840A-9628A002AE10}"/>
              </a:ext>
            </a:extLst>
          </p:cNvPr>
          <p:cNvSpPr>
            <a:spLocks noGrp="1"/>
          </p:cNvSpPr>
          <p:nvPr/>
        </p:nvSpPr>
        <p:spPr>
          <a:xfrm>
            <a:off x="781050" y="1619250"/>
            <a:ext cx="4619625" cy="3619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score_i = Σ Q[k] × K_i[k]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5F642F-5252-4441-9EEF-ECF1D7F57E8A}"/>
              </a:ext>
            </a:extLst>
          </p:cNvPr>
          <p:cNvSpPr>
            <a:spLocks noGrp="1"/>
          </p:cNvSpPr>
          <p:nvPr/>
        </p:nvSpPr>
        <p:spPr>
          <a:xfrm>
            <a:off x="781050" y="2076450"/>
            <a:ext cx="4619625" cy="3619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x_max = max(score_i)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C67E59C-2976-48F4-9603-CA574753461F}"/>
              </a:ext>
            </a:extLst>
          </p:cNvPr>
          <p:cNvSpPr>
            <a:spLocks noGrp="1"/>
          </p:cNvSpPr>
          <p:nvPr/>
        </p:nvSpPr>
        <p:spPr>
          <a:xfrm>
            <a:off x="781050" y="2533650"/>
            <a:ext cx="4619625" cy="3619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weight_i = exp(score_i - x_max)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BB4D0E-7AC7-458F-9A9E-DBE30659D7C3}"/>
              </a:ext>
            </a:extLst>
          </p:cNvPr>
          <p:cNvSpPr>
            <a:spLocks noGrp="1"/>
          </p:cNvSpPr>
          <p:nvPr/>
        </p:nvSpPr>
        <p:spPr>
          <a:xfrm>
            <a:off x="781050" y="2990850"/>
            <a:ext cx="4619625" cy="3619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L = Σ weight_i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C4BE6-AA8B-4029-9E23-05E0F4B6A51E}"/>
              </a:ext>
            </a:extLst>
          </p:cNvPr>
          <p:cNvSpPr>
            <a:spLocks noGrp="1"/>
          </p:cNvSpPr>
          <p:nvPr/>
        </p:nvSpPr>
        <p:spPr>
          <a:xfrm>
            <a:off x="781050" y="3448050"/>
            <a:ext cx="4619625" cy="3619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ACC[j] = Σ weight_i × V_i[j]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B7B9F8E-A03B-4062-8898-2F25BD463B6B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4619625" cy="3619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O[j] = round(ACC[j] / L)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835353-FE1B-4300-A71D-D0967BBCF31D}"/>
              </a:ext>
            </a:extLst>
          </p:cNvPr>
          <p:cNvSpPr>
            <a:spLocks noGrp="1"/>
          </p:cNvSpPr>
          <p:nvPr/>
        </p:nvSpPr>
        <p:spPr>
          <a:xfrm>
            <a:off x="6096000" y="1143000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18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任务规格</a:t>
            </a:r>
          </a:p>
        </p:txBody>
      </p:sp>
      <p:graphicFrame>
        <p:nvGraphicFramePr>
          <p:cNvPr id="28" name="表格 25"/>
          <p:cNvGraphicFramePr/>
          <p:nvPr/>
        </p:nvGraphicFramePr>
        <p:xfrm>
          <a:off x="5953125" y="1571625"/>
          <a:ext cx="5572125" cy="3381378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0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173E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固定值</a:t>
                      </a:r>
                    </a:p>
                  </a:txBody>
                  <a:tcPr anchor="ctr">
                    <a:solidFill>
                      <a:srgbClr val="173E6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硬件表示</a:t>
                      </a:r>
                    </a:p>
                  </a:txBody>
                  <a:tcPr anchor="ctr">
                    <a:solidFill>
                      <a:srgbClr val="173E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0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Token 数量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位计数器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0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Head 维度 d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位计数器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0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1×4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个 signed 8 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0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 V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8×4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 32 个 signed 8 位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0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 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1×4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个 signed 8 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0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 Weight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Q1.4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位 unsigned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5F8D02EC-79AF-4FD9-A381-893F7DBAE607}"/>
              </a:ext>
            </a:extLst>
          </p:cNvPr>
          <p:cNvSpPr>
            <a:spLocks noGrp="1"/>
          </p:cNvSpPr>
          <p:nvPr/>
        </p:nvSpPr>
        <p:spPr>
          <a:xfrm>
            <a:off x="714375" y="52863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ctr">
              <a:buNone/>
              <a:defRPr sz="1500" b="1">
                <a:solidFill>
                  <a:srgbClr val="2D6F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6F9F"/>
                </a:solidFill>
                <a:latin typeface="Microsoft YaHei"/>
                <a:ea typeface="Microsoft YaHei"/>
                <a:cs typeface="Microsoft YaHei"/>
              </a:rPr>
              <a:t>减去最大 Score 后，指数输入不大于 0，查表范围更小且数值稳定。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65777E-5788-4A4F-A08B-F00D83E57647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82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Attention 加速器 RTL IP</a:t>
            </a:r>
          </a:p>
        </p:txBody>
      </p:sp>
    </p:spTree>
    <p:extLst>
      <p:ext uri="{BB962C8B-B14F-4D97-AF65-F5344CB8AC3E}">
        <p14:creationId xmlns:p14="http://schemas.microsoft.com/office/powerpoint/2010/main" val="982312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64BC9170-95D2-45E4-9EAA-D531DE2EB5B7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255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硬件数据流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191540-C0D9-48A4-BF09-8C0035C114E7}"/>
              </a:ext>
            </a:extLst>
          </p:cNvPr>
          <p:cNvSpPr>
            <a:spLocks noGrp="1"/>
          </p:cNvSpPr>
          <p:nvPr/>
        </p:nvSpPr>
        <p:spPr>
          <a:xfrm>
            <a:off x="11334750" y="4000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r">
              <a:buNone/>
              <a:defRPr sz="1200" b="1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2BD4D0D1-078D-46C5-A55A-E4CD19EF35B4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11049000" cy="0"/>
          </a:xfrm>
          <a:prstGeom prst="line">
            <a:avLst/>
          </a:prstGeom>
          <a:noFill/>
          <a:ln w="11430">
            <a:solidFill>
              <a:srgbClr val="D4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BCE47D4-6B33-4061-988A-F6A5C267208D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1524000" cy="857250"/>
          </a:xfrm>
          <a:prstGeom prst="roundRect">
            <a:avLst>
              <a:gd name="adj" fmla="val 11111"/>
            </a:avLst>
          </a:prstGeom>
          <a:solidFill>
            <a:srgbClr val="E8F1F7"/>
          </a:solidFill>
          <a:ln w="14288">
            <a:solidFill>
              <a:srgbClr val="2D6F9F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buNone/>
              <a:def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Q K V</a:t>
            </a:r>
          </a:p>
          <a:p>
            <a:pPr algn="ctr">
              <a:buNone/>
              <a:def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串行输入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F13B88D-13A2-410D-A306-4CD7E29AC2CD}"/>
              </a:ext>
            </a:extLst>
          </p:cNvPr>
          <p:cNvSpPr>
            <a:spLocks noGrp="1"/>
          </p:cNvSpPr>
          <p:nvPr/>
        </p:nvSpPr>
        <p:spPr>
          <a:xfrm>
            <a:off x="2428875" y="1809750"/>
            <a:ext cx="1524000" cy="857250"/>
          </a:xfrm>
          <a:prstGeom prst="roundRect">
            <a:avLst>
              <a:gd name="adj" fmla="val 11111"/>
            </a:avLst>
          </a:prstGeom>
          <a:solidFill>
            <a:srgbClr val="E8F1F7"/>
          </a:solidFill>
          <a:ln w="14288">
            <a:solidFill>
              <a:srgbClr val="2D6F9F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buNone/>
              <a:def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Q K V</a:t>
            </a:r>
          </a:p>
          <a:p>
            <a:pPr algn="ctr">
              <a:buNone/>
              <a:def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Buffer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1B121D3-4058-483D-BE33-55FBABE8604B}"/>
              </a:ext>
            </a:extLst>
          </p:cNvPr>
          <p:cNvSpPr>
            <a:spLocks noGrp="1"/>
          </p:cNvSpPr>
          <p:nvPr/>
        </p:nvSpPr>
        <p:spPr>
          <a:xfrm>
            <a:off x="4333875" y="1809750"/>
            <a:ext cx="1524000" cy="857250"/>
          </a:xfrm>
          <a:prstGeom prst="roundRect">
            <a:avLst>
              <a:gd name="adj" fmla="val 11111"/>
            </a:avLst>
          </a:prstGeom>
          <a:solidFill>
            <a:srgbClr val="E8F1F7"/>
          </a:solidFill>
          <a:ln w="14288">
            <a:solidFill>
              <a:srgbClr val="2D6F9F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buNone/>
              <a:def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DOT</a:t>
            </a:r>
          </a:p>
          <a:p>
            <a:pPr algn="ctr">
              <a:buNone/>
              <a:def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8 个 Score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655A0DB-9920-4345-B098-E2A687B5F314}"/>
              </a:ext>
            </a:extLst>
          </p:cNvPr>
          <p:cNvSpPr>
            <a:spLocks noGrp="1"/>
          </p:cNvSpPr>
          <p:nvPr/>
        </p:nvSpPr>
        <p:spPr>
          <a:xfrm>
            <a:off x="6238875" y="1809750"/>
            <a:ext cx="1762125" cy="857250"/>
          </a:xfrm>
          <a:prstGeom prst="roundRect">
            <a:avLst>
              <a:gd name="adj" fmla="val 11111"/>
            </a:avLst>
          </a:prstGeom>
          <a:solidFill>
            <a:srgbClr val="E8F1F7"/>
          </a:solidFill>
          <a:ln w="14288">
            <a:solidFill>
              <a:srgbClr val="2D6F9F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buNone/>
              <a:def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MAX EXP</a:t>
            </a:r>
          </a:p>
          <a:p>
            <a:pPr algn="ctr">
              <a:buNone/>
              <a:def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x_max 与 Weight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949EB14-E5D6-4C0F-B6BB-C9A772B79DD5}"/>
              </a:ext>
            </a:extLst>
          </p:cNvPr>
          <p:cNvSpPr>
            <a:spLocks noGrp="1"/>
          </p:cNvSpPr>
          <p:nvPr/>
        </p:nvSpPr>
        <p:spPr>
          <a:xfrm>
            <a:off x="8382000" y="1809750"/>
            <a:ext cx="1619250" cy="857250"/>
          </a:xfrm>
          <a:prstGeom prst="roundRect">
            <a:avLst>
              <a:gd name="adj" fmla="val 11111"/>
            </a:avLst>
          </a:prstGeom>
          <a:solidFill>
            <a:srgbClr val="E8F1F7"/>
          </a:solidFill>
          <a:ln w="14288">
            <a:solidFill>
              <a:srgbClr val="2D6F9F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buNone/>
              <a:def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UPDATE</a:t>
            </a:r>
          </a:p>
          <a:p>
            <a:pPr algn="ctr">
              <a:buNone/>
              <a:def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L 与四路 ACC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2BA8DD9-89D5-4C6A-9AC3-9D7DA8E6A909}"/>
              </a:ext>
            </a:extLst>
          </p:cNvPr>
          <p:cNvSpPr>
            <a:spLocks noGrp="1"/>
          </p:cNvSpPr>
          <p:nvPr/>
        </p:nvSpPr>
        <p:spPr>
          <a:xfrm>
            <a:off x="10382250" y="1809750"/>
            <a:ext cx="1428750" cy="857250"/>
          </a:xfrm>
          <a:prstGeom prst="roundRect">
            <a:avLst>
              <a:gd name="adj" fmla="val 11111"/>
            </a:avLst>
          </a:prstGeom>
          <a:solidFill>
            <a:srgbClr val="E8F1F7"/>
          </a:solidFill>
          <a:ln w="14288">
            <a:solidFill>
              <a:srgbClr val="2D6F9F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buNone/>
              <a:def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NORM OUTPUT</a:t>
            </a:r>
          </a:p>
          <a:p>
            <a:pPr algn="ctr">
              <a:buNone/>
              <a:def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4 个结果</a:t>
            </a:r>
          </a:p>
        </p:txBody>
      </p:sp>
      <p:cxnSp>
        <p:nvCxnSpPr>
          <p:cNvPr id="71" name="直接箭头连接符 28"/>
          <p:cNvCxnSpPr>
            <a:stCxn id="4" idx="3"/>
            <a:endCxn id="5" idx="1"/>
          </p:cNvCxnSpPr>
          <p:nvPr/>
        </p:nvCxnSpPr>
        <p:spPr>
          <a:xfrm>
            <a:off x="2047875" y="2238375"/>
            <a:ext cx="381000" cy="0"/>
          </a:xfrm>
          <a:prstGeom prst="straightConnector1">
            <a:avLst/>
          </a:prstGeom>
          <a:ln w="19050">
            <a:solidFill>
              <a:srgbClr val="7F96AA"/>
            </a:solidFill>
            <a:prstDash val="solid"/>
            <a:tailEnd type="arrow" w="med" len="med"/>
          </a:ln>
        </p:spPr>
      </p:cxnSp>
      <p:cxnSp>
        <p:nvCxnSpPr>
          <p:cNvPr id="72" name="直接箭头连接符 29"/>
          <p:cNvCxnSpPr>
            <a:stCxn id="5" idx="3"/>
            <a:endCxn id="6" idx="1"/>
          </p:cNvCxnSpPr>
          <p:nvPr/>
        </p:nvCxnSpPr>
        <p:spPr>
          <a:xfrm>
            <a:off x="3952875" y="2238375"/>
            <a:ext cx="381000" cy="0"/>
          </a:xfrm>
          <a:prstGeom prst="straightConnector1">
            <a:avLst/>
          </a:prstGeom>
          <a:ln w="19050">
            <a:solidFill>
              <a:srgbClr val="7F96AA"/>
            </a:solidFill>
            <a:prstDash val="solid"/>
            <a:tailEnd type="arrow" w="med" len="med"/>
          </a:ln>
        </p:spPr>
      </p:cxnSp>
      <p:cxnSp>
        <p:nvCxnSpPr>
          <p:cNvPr id="73" name="直接箭头连接符 30"/>
          <p:cNvCxnSpPr>
            <a:stCxn id="6" idx="3"/>
            <a:endCxn id="7" idx="1"/>
          </p:cNvCxnSpPr>
          <p:nvPr/>
        </p:nvCxnSpPr>
        <p:spPr>
          <a:xfrm>
            <a:off x="5857875" y="2238375"/>
            <a:ext cx="381000" cy="0"/>
          </a:xfrm>
          <a:prstGeom prst="straightConnector1">
            <a:avLst/>
          </a:prstGeom>
          <a:ln w="19050">
            <a:solidFill>
              <a:srgbClr val="7F96AA"/>
            </a:solidFill>
            <a:prstDash val="solid"/>
            <a:tailEnd type="arrow" w="med" len="med"/>
          </a:ln>
        </p:spPr>
      </p:cxnSp>
      <p:cxnSp>
        <p:nvCxnSpPr>
          <p:cNvPr id="74" name="直接箭头连接符 31"/>
          <p:cNvCxnSpPr>
            <a:stCxn id="7" idx="3"/>
            <a:endCxn id="8" idx="1"/>
          </p:cNvCxnSpPr>
          <p:nvPr/>
        </p:nvCxnSpPr>
        <p:spPr>
          <a:xfrm>
            <a:off x="8001000" y="2238375"/>
            <a:ext cx="381000" cy="0"/>
          </a:xfrm>
          <a:prstGeom prst="straightConnector1">
            <a:avLst/>
          </a:prstGeom>
          <a:ln w="19050">
            <a:solidFill>
              <a:srgbClr val="7F96AA"/>
            </a:solidFill>
            <a:prstDash val="solid"/>
            <a:tailEnd type="arrow" w="med" len="med"/>
          </a:ln>
        </p:spPr>
      </p:cxnSp>
      <p:cxnSp>
        <p:nvCxnSpPr>
          <p:cNvPr id="75" name="直接箭头连接符 32"/>
          <p:cNvCxnSpPr>
            <a:stCxn id="8" idx="3"/>
            <a:endCxn id="9" idx="1"/>
          </p:cNvCxnSpPr>
          <p:nvPr/>
        </p:nvCxnSpPr>
        <p:spPr>
          <a:xfrm>
            <a:off x="10001250" y="2238375"/>
            <a:ext cx="381000" cy="0"/>
          </a:xfrm>
          <a:prstGeom prst="straightConnector1">
            <a:avLst/>
          </a:prstGeom>
          <a:ln w="19050">
            <a:solidFill>
              <a:srgbClr val="7F96AA"/>
            </a:solidFill>
            <a:prstDash val="solid"/>
            <a:tailEnd type="arrow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EB8B9324-2224-4CE3-8999-E1188AFD2FE6}"/>
              </a:ext>
            </a:extLst>
          </p:cNvPr>
          <p:cNvSpPr>
            <a:spLocks noGrp="1"/>
          </p:cNvSpPr>
          <p:nvPr/>
        </p:nvSpPr>
        <p:spPr>
          <a:xfrm>
            <a:off x="619125" y="328612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18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地址与复用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5450B5-BFFD-4076-A758-A284D2DA2A4F}"/>
              </a:ext>
            </a:extLst>
          </p:cNvPr>
          <p:cNvSpPr>
            <a:spLocks noGrp="1"/>
          </p:cNvSpPr>
          <p:nvPr/>
        </p:nvSpPr>
        <p:spPr>
          <a:xfrm>
            <a:off x="619125" y="3762375"/>
            <a:ext cx="5191125" cy="1952625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K V 展平成 32 个元素，地址为 token×4+dim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点积通路复用 4 个周期完成一个 Score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NEXT 增加 token，决定下一组 K 和 Score 存储位置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D4898CC-971F-4B2B-84F8-50FE3EA278A3}"/>
              </a:ext>
            </a:extLst>
          </p:cNvPr>
          <p:cNvSpPr>
            <a:spLocks noGrp="1"/>
          </p:cNvSpPr>
          <p:nvPr/>
        </p:nvSpPr>
        <p:spPr>
          <a:xfrm>
            <a:off x="6429375" y="328612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18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接口与控制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30AF22-8589-4C98-BE17-6A88A5B1B29C}"/>
              </a:ext>
            </a:extLst>
          </p:cNvPr>
          <p:cNvSpPr>
            <a:spLocks noGrp="1"/>
          </p:cNvSpPr>
          <p:nvPr/>
        </p:nvSpPr>
        <p:spPr>
          <a:xfrm>
            <a:off x="6429375" y="3762375"/>
            <a:ext cx="4953000" cy="1952625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data_ready 只在 LOAD_Q 与 LOAD_KV 中有效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q_valid 控制 4 个 Q 元素，kv_valid 控制 32 组 K V 元素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out_valid 连续输出 4 拍，最后一拍产生 done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0CD8AA0-5C1C-4EF5-AE8B-D1FCFBBA38D0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82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Attention 加速器 RTL IP</a:t>
            </a:r>
          </a:p>
        </p:txBody>
      </p:sp>
    </p:spTree>
    <p:extLst>
      <p:ext uri="{BB962C8B-B14F-4D97-AF65-F5344CB8AC3E}">
        <p14:creationId xmlns:p14="http://schemas.microsoft.com/office/powerpoint/2010/main" val="1339897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93B9C69-C4E7-4133-84EE-ED2008080E30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255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状态机与位宽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6FBBDC-DE3F-45D6-B0F1-B31EA18B91FD}"/>
              </a:ext>
            </a:extLst>
          </p:cNvPr>
          <p:cNvSpPr>
            <a:spLocks noGrp="1"/>
          </p:cNvSpPr>
          <p:nvPr/>
        </p:nvSpPr>
        <p:spPr>
          <a:xfrm>
            <a:off x="11334750" y="4000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r">
              <a:buNone/>
              <a:defRPr sz="1200" b="1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001DAA2-C6B5-47CB-A764-BEB67D5B83B7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11049000" cy="0"/>
          </a:xfrm>
          <a:prstGeom prst="line">
            <a:avLst/>
          </a:prstGeom>
          <a:noFill/>
          <a:ln w="11430">
            <a:solidFill>
              <a:srgbClr val="D4DEE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5" name="表格 11"/>
          <p:cNvGraphicFramePr/>
          <p:nvPr/>
        </p:nvGraphicFramePr>
        <p:xfrm>
          <a:off x="523875" y="1190625"/>
          <a:ext cx="5810250" cy="433387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</a:rPr>
                        <a:t>状态</a:t>
                      </a:r>
                      <a:endParaRPr sz="1050" b="1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</a:rPr>
                        <a:t>主要动作</a:t>
                      </a:r>
                      <a:endParaRPr sz="1050" b="1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</a:rPr>
                        <a:t>周期</a:t>
                      </a:r>
                      <a:endParaRPr sz="1050" b="1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IDLE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等待 start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等待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LOAD_Q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装载 4 个 Q 元素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4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LOAD_KV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装载 32 个 K V 元素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32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DOT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8 组点积，每组 4 次乘加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32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NEXT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切换 8 个 token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8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MAX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搜索最大 Score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7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EXP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8 次 LUT 查询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8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UPDATE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累加 L 和 ACC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8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NORM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4 路归一化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4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OUTPUT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输出 4 个结果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4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合计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start 后连续 valid 无空拍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107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6" name="表格 12"/>
          <p:cNvGraphicFramePr/>
          <p:nvPr/>
        </p:nvGraphicFramePr>
        <p:xfrm>
          <a:off x="6715125" y="1190625"/>
          <a:ext cx="4953000" cy="390524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</a:rPr>
                        <a:t>数据</a:t>
                      </a:r>
                      <a:endParaRPr sz="1050" b="1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</a:rPr>
                        <a:t>范围</a:t>
                      </a:r>
                      <a:endParaRPr sz="1050" b="1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</a:rPr>
                        <a:t>位宽</a:t>
                      </a:r>
                      <a:endParaRPr sz="1050" b="1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Q K V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-128 至 127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8 signed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Score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-65024 至 65536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18 signed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delta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-130560 至 0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18 signed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Weight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0 至 16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5 unsigned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L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0 至 128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8 unsigned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ACC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约 -16384 至 16256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16 signed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O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-128 至 127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</a:rPr>
                        <a:t>8 signed</a:t>
                      </a:r>
                      <a:endParaRPr sz="1050" b="0">
                        <a:solidFill>
                          <a:srgbClr val="17212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D27E2B8B-9427-400A-8459-D0C24765D43C}"/>
              </a:ext>
            </a:extLst>
          </p:cNvPr>
          <p:cNvSpPr>
            <a:spLocks noGrp="1"/>
          </p:cNvSpPr>
          <p:nvPr/>
        </p:nvSpPr>
        <p:spPr>
          <a:xfrm>
            <a:off x="6762750" y="5286375"/>
            <a:ext cx="1524000" cy="333375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1575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实现要点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2B1764-4A8D-4927-B224-2E3618763F99}"/>
              </a:ext>
            </a:extLst>
          </p:cNvPr>
          <p:cNvSpPr>
            <a:spLocks noGrp="1"/>
          </p:cNvSpPr>
          <p:nvPr/>
        </p:nvSpPr>
        <p:spPr>
          <a:xfrm>
            <a:off x="6762750" y="5667375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显式符号扩展</a:t>
            </a:r>
            <a:r>
              <a:rPr sz="1275" b="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75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x_max</a:t>
            </a:r>
            <a:r>
              <a:rPr sz="1275" b="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从 </a:t>
            </a:r>
            <a:r>
              <a:rPr sz="1275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score_buf</a:t>
            </a:r>
            <a:r>
              <a:rPr sz="1275" b="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[0] </a:t>
            </a:r>
            <a:r>
              <a:rPr sz="1275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初始化</a:t>
            </a:r>
            <a:r>
              <a:rPr sz="1275" b="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75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正负</a:t>
            </a:r>
            <a:r>
              <a:rPr sz="1275" b="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ACC </a:t>
            </a:r>
            <a:r>
              <a:rPr sz="1275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对称舍入</a:t>
            </a:r>
            <a:endParaRPr sz="1275" b="0" dirty="0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1732D3-263D-4540-9441-68F336032548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82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Attention 加速器 RTL IP</a:t>
            </a:r>
          </a:p>
        </p:txBody>
      </p:sp>
    </p:spTree>
    <p:extLst>
      <p:ext uri="{BB962C8B-B14F-4D97-AF65-F5344CB8AC3E}">
        <p14:creationId xmlns:p14="http://schemas.microsoft.com/office/powerpoint/2010/main" val="1541976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F571012-2251-404D-A038-C05C3E757CCB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255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验证方法与基础结果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70180B-6C2E-4DFB-9827-49AFA3416F41}"/>
              </a:ext>
            </a:extLst>
          </p:cNvPr>
          <p:cNvSpPr>
            <a:spLocks noGrp="1"/>
          </p:cNvSpPr>
          <p:nvPr/>
        </p:nvSpPr>
        <p:spPr>
          <a:xfrm>
            <a:off x="11334750" y="4000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r">
              <a:buNone/>
              <a:defRPr sz="1200" b="1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FD23EEC-67C0-4AA3-9A2A-47ADB27D1B44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11049000" cy="0"/>
          </a:xfrm>
          <a:prstGeom prst="line">
            <a:avLst/>
          </a:prstGeom>
          <a:noFill/>
          <a:ln w="11430">
            <a:solidFill>
              <a:srgbClr val="D4DEE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20" name="表格 17"/>
          <p:cNvGraphicFramePr/>
          <p:nvPr/>
        </p:nvGraphicFramePr>
        <p:xfrm>
          <a:off x="619125" y="1190625"/>
          <a:ext cx="10001250" cy="24765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</a:t>
                      </a:r>
                    </a:p>
                  </a:txBody>
                  <a:tcPr anchor="ctr">
                    <a:solidFill>
                      <a:srgbClr val="173E6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</a:t>
                      </a:r>
                    </a:p>
                  </a:txBody>
                  <a:tcPr anchor="ctr">
                    <a:solidFill>
                      <a:srgbClr val="173E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期望输出</a:t>
                      </a:r>
                    </a:p>
                  </a:txBody>
                  <a:tcPr anchor="ctr">
                    <a:solidFill>
                      <a:srgbClr val="173E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anchor="ctr">
                    <a:solidFill>
                      <a:srgbClr val="173E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 Score 与正负 0.5 舍入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 -5  3 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delta 0 至 -7 覆盖 LUT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 6  2  -1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位极值与符号扩展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-128  127  -1 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固定随机 两项非零 Weight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-7  3  19  2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D4EA449-D9BC-4202-9254-F79895E2C856}"/>
              </a:ext>
            </a:extLst>
          </p:cNvPr>
          <p:cNvSpPr>
            <a:spLocks noGrp="1"/>
          </p:cNvSpPr>
          <p:nvPr/>
        </p:nvSpPr>
        <p:spPr>
          <a:xfrm>
            <a:off x="762000" y="4238625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ctr">
              <a:buNone/>
              <a:defRPr sz="3150" b="1">
                <a:solidFill>
                  <a:srgbClr val="138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38A64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6C926C-CE0F-4D95-B57F-B6FB0ECE468A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ctr">
              <a:buNone/>
              <a:defRPr sz="127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RTL 编译错误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223D4A-7F4C-41D5-8547-BDFCAE5CE84F}"/>
              </a:ext>
            </a:extLst>
          </p:cNvPr>
          <p:cNvSpPr>
            <a:spLocks noGrp="1"/>
          </p:cNvSpPr>
          <p:nvPr/>
        </p:nvSpPr>
        <p:spPr>
          <a:xfrm>
            <a:off x="3571875" y="4238625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ctr">
              <a:buNone/>
              <a:defRPr sz="3150" b="1">
                <a:solidFill>
                  <a:srgbClr val="138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38A64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C4A9F0-F63C-46F3-8730-9EC039148294}"/>
              </a:ext>
            </a:extLst>
          </p:cNvPr>
          <p:cNvSpPr>
            <a:spLocks noGrp="1"/>
          </p:cNvSpPr>
          <p:nvPr/>
        </p:nvSpPr>
        <p:spPr>
          <a:xfrm>
            <a:off x="3571875" y="4953000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ctr">
              <a:buNone/>
              <a:defRPr sz="127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TB 编译错误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98761B-0384-427A-879B-7CD2DC382893}"/>
              </a:ext>
            </a:extLst>
          </p:cNvPr>
          <p:cNvSpPr>
            <a:spLocks noGrp="1"/>
          </p:cNvSpPr>
          <p:nvPr/>
        </p:nvSpPr>
        <p:spPr>
          <a:xfrm>
            <a:off x="6381750" y="4238625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ctr">
              <a:buNone/>
              <a:defRPr sz="315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4/4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FF5503-ACC6-4A64-8821-F87938BBB1C5}"/>
              </a:ext>
            </a:extLst>
          </p:cNvPr>
          <p:cNvSpPr>
            <a:spLocks noGrp="1"/>
          </p:cNvSpPr>
          <p:nvPr/>
        </p:nvSpPr>
        <p:spPr>
          <a:xfrm>
            <a:off x="6381750" y="4953000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ctr">
              <a:buNone/>
              <a:defRPr sz="127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基础用例通过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486422-953E-489C-A65B-E4985924F6B1}"/>
              </a:ext>
            </a:extLst>
          </p:cNvPr>
          <p:cNvSpPr>
            <a:spLocks noGrp="1"/>
          </p:cNvSpPr>
          <p:nvPr/>
        </p:nvSpPr>
        <p:spPr>
          <a:xfrm>
            <a:off x="9191625" y="4238625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ctr">
              <a:buNone/>
              <a:defRPr sz="315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F7A410-6708-477E-99B2-7FEE98DB6173}"/>
              </a:ext>
            </a:extLst>
          </p:cNvPr>
          <p:cNvSpPr>
            <a:spLocks noGrp="1"/>
          </p:cNvSpPr>
          <p:nvPr/>
        </p:nvSpPr>
        <p:spPr>
          <a:xfrm>
            <a:off x="9191625" y="4953000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ctr">
              <a:buNone/>
              <a:defRPr sz="127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LUT 表项核对通过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A4B65F-D3C0-4A5F-9916-591EC8B5A0E3}"/>
              </a:ext>
            </a:extLst>
          </p:cNvPr>
          <p:cNvSpPr>
            <a:spLocks noGrp="1"/>
          </p:cNvSpPr>
          <p:nvPr/>
        </p:nvSpPr>
        <p:spPr>
          <a:xfrm>
            <a:off x="952500" y="581025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ctr">
              <a:buNone/>
              <a:defRPr sz="1350" b="1">
                <a:solidFill>
                  <a:srgbClr val="2D6F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6F9F"/>
                </a:solidFill>
                <a:latin typeface="Microsoft YaHei"/>
                <a:ea typeface="Microsoft YaHei"/>
                <a:cs typeface="Microsoft YaHei"/>
              </a:rPr>
              <a:t>Python 负责中间量，tb比较最终输出，ModelSim 波形用于对照内部寄存器。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EC28622-BEEC-4F51-8F06-AFD269366B55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82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Attention 加速器 RTL IP</a:t>
            </a:r>
          </a:p>
        </p:txBody>
      </p:sp>
    </p:spTree>
    <p:extLst>
      <p:ext uri="{BB962C8B-B14F-4D97-AF65-F5344CB8AC3E}">
        <p14:creationId xmlns:p14="http://schemas.microsoft.com/office/powerpoint/2010/main" val="1136709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B6BBEEB-1069-48A9-AEC2-39C7787DF599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255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加分项 A 因果 Mask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4745F4-0480-4310-92E1-731AA7A0C20E}"/>
              </a:ext>
            </a:extLst>
          </p:cNvPr>
          <p:cNvSpPr>
            <a:spLocks noGrp="1"/>
          </p:cNvSpPr>
          <p:nvPr/>
        </p:nvSpPr>
        <p:spPr>
          <a:xfrm>
            <a:off x="11334750" y="4000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r">
              <a:buNone/>
              <a:defRPr sz="1200" b="1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939CD19-3A8D-4099-8C08-DE8D5E1E6573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11049000" cy="0"/>
          </a:xfrm>
          <a:prstGeom prst="line">
            <a:avLst/>
          </a:prstGeom>
          <a:noFill/>
          <a:ln w="11430">
            <a:solidFill>
              <a:srgbClr val="D4DEE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2" name="表格 9"/>
          <p:cNvGraphicFramePr/>
          <p:nvPr/>
        </p:nvGraphicFramePr>
        <p:xfrm>
          <a:off x="523875" y="1143000"/>
          <a:ext cx="11144250" cy="3905248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173E6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基础版</a:t>
                      </a:r>
                    </a:p>
                  </a:txBody>
                  <a:tcPr anchor="ctr">
                    <a:solidFill>
                      <a:srgbClr val="173E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因果 Mask 版</a:t>
                      </a:r>
                    </a:p>
                  </a:txBody>
                  <a:tcPr anchor="ctr">
                    <a:solidFill>
                      <a:srgbClr val="173E6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anchor="ctr">
                    <a:solidFill>
                      <a:srgbClr val="173E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Query 位置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query_index[2:0]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标识当前位置 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无位置输入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start 时锁存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任务期间保持稳定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项均参与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仅比较 0 至 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排除未来高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全部查 LUT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 &gt; i 权重置 0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屏蔽未来 Key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UPDATE NORM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原数据流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保持不变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复用基础通路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定向用例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 4 组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 = 0 3 3 7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覆盖首位中间和末位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验证结果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最终输出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cases 0 errors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 x_max 与 Mask 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61C40F5-F38C-4132-AE07-5D4CCB8B0729}"/>
              </a:ext>
            </a:extLst>
          </p:cNvPr>
          <p:cNvSpPr>
            <a:spLocks noGrp="1"/>
          </p:cNvSpPr>
          <p:nvPr/>
        </p:nvSpPr>
        <p:spPr>
          <a:xfrm>
            <a:off x="714375" y="528637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28600" indent="-114300">
              <a:spcAft>
                <a:spcPts val="400"/>
              </a:spcAft>
              <a:buChar char="•"/>
              <a:def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j 不大于 i 时正常参与 Attention，j 大于 i 时 Weight 强制为 0</a:t>
            </a:r>
          </a:p>
          <a:p>
            <a:pPr marL="228600" indent="-114300">
              <a:spcAft>
                <a:spcPts val="400"/>
              </a:spcAft>
              <a:buChar char="•"/>
              <a:def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MAX 与 EXP 必须同时处理 Mask，避免未来高 Score 改变合法权重</a:t>
            </a:r>
          </a:p>
          <a:p>
            <a:pPr marL="228600" indent="-114300">
              <a:spcAft>
                <a:spcPts val="400"/>
              </a:spcAft>
              <a:buChar char="•"/>
              <a:def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query_index 为 7 时输出 5 -5 3 0，与基础版相同输入结果一致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9C8342-F7CC-406E-A96D-59DEFC837C0B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82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Attention 加速器 RTL IP</a:t>
            </a:r>
          </a:p>
        </p:txBody>
      </p:sp>
    </p:spTree>
    <p:extLst>
      <p:ext uri="{BB962C8B-B14F-4D97-AF65-F5344CB8AC3E}">
        <p14:creationId xmlns:p14="http://schemas.microsoft.com/office/powerpoint/2010/main" val="1302236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5513F85-0F7C-420A-8B15-34B5CD1780CE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255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加分项 B 四路并行点积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59512DE-DA68-4071-A23C-F13F28CDA952}"/>
              </a:ext>
            </a:extLst>
          </p:cNvPr>
          <p:cNvSpPr>
            <a:spLocks noGrp="1"/>
          </p:cNvSpPr>
          <p:nvPr/>
        </p:nvSpPr>
        <p:spPr>
          <a:xfrm>
            <a:off x="11334750" y="4000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r">
              <a:buNone/>
              <a:defRPr sz="1200" b="1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599A86FE-9912-493E-A1BA-50B408B781C1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11049000" cy="0"/>
          </a:xfrm>
          <a:prstGeom prst="line">
            <a:avLst/>
          </a:prstGeom>
          <a:noFill/>
          <a:ln w="11430">
            <a:solidFill>
              <a:srgbClr val="D4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30BA00-E4E8-4692-8D79-DCBC17F5E3E9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1125" b="1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周期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523875" y="1285875"/>
          <a:ext cx="571500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表格 13"/>
          <p:cNvGraphicFramePr/>
          <p:nvPr/>
        </p:nvGraphicFramePr>
        <p:xfrm>
          <a:off x="6667500" y="1381125"/>
          <a:ext cx="4953000" cy="2905128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173E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基础版</a:t>
                      </a:r>
                    </a:p>
                  </a:txBody>
                  <a:tcPr anchor="ctr">
                    <a:solidFill>
                      <a:srgbClr val="173E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并行版</a:t>
                      </a:r>
                    </a:p>
                  </a:txBody>
                  <a:tcPr anchor="ctr">
                    <a:solidFill>
                      <a:srgbClr val="173E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Q×K 乘法器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DOT 与 NEXT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周期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周期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计算阶段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 周期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 周期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start 后总周期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107 周期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 周期</a:t>
                      </a:r>
                    </a:p>
                  </a:txBody>
                  <a:tcPr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cases 0 errors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cases 0 errors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32B5B054-E84B-49FD-90FA-ED056D030374}"/>
              </a:ext>
            </a:extLst>
          </p:cNvPr>
          <p:cNvSpPr>
            <a:spLocks noGrp="1"/>
          </p:cNvSpPr>
          <p:nvPr/>
        </p:nvSpPr>
        <p:spPr>
          <a:xfrm>
            <a:off x="6810375" y="4619625"/>
            <a:ext cx="4619625" cy="133350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4 路 Q×K 并行，两级加法树同周期生成一个 Score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删除 dot_acc 与 cnt_dim，NEXT 正常数据流不再进入</a:t>
            </a:r>
          </a:p>
          <a:p>
            <a:pPr marL="228600" indent="-114300">
              <a:spcAft>
                <a:spcPts val="700"/>
              </a:spcAft>
              <a:buChar char="•"/>
              <a:def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总周期减少 29.91%，资源和最高频率仍需综合确认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FF10262-7CCE-4DE5-8C11-2940B5FF8DFE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82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Attention 加速器 RTL IP</a:t>
            </a:r>
          </a:p>
        </p:txBody>
      </p:sp>
    </p:spTree>
    <p:extLst>
      <p:ext uri="{BB962C8B-B14F-4D97-AF65-F5344CB8AC3E}">
        <p14:creationId xmlns:p14="http://schemas.microsoft.com/office/powerpoint/2010/main" val="59074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7A8BD715-29A4-4B6D-8DE2-8A6B34BFDC0F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2550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结论</a:t>
            </a:r>
            <a:endParaRPr sz="2550" b="1" dirty="0">
              <a:solidFill>
                <a:srgbClr val="173E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AA757E-E00A-4A92-825E-094D6D71C33F}"/>
              </a:ext>
            </a:extLst>
          </p:cNvPr>
          <p:cNvSpPr>
            <a:spLocks noGrp="1"/>
          </p:cNvSpPr>
          <p:nvPr/>
        </p:nvSpPr>
        <p:spPr>
          <a:xfrm>
            <a:off x="11334750" y="4000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r">
              <a:buNone/>
              <a:defRPr sz="1200" b="1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5E9E5F8B-7118-40F1-A4EA-7E3807AFD1A2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11049000" cy="0"/>
          </a:xfrm>
          <a:prstGeom prst="line">
            <a:avLst/>
          </a:prstGeom>
          <a:noFill/>
          <a:ln w="11430">
            <a:solidFill>
              <a:srgbClr val="D4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690BCF-3493-4BD5-9A04-B77DBFA17248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1875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139AEB-52CA-4276-A135-1E5C751E5665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5143500" cy="200025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固定规模 Attention 点积、稳定 Softmax、加权累加和归一化</a:t>
            </a:r>
          </a:p>
          <a:p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加分项 A 因果 Mask，4 组独立测试全部通过</a:t>
            </a:r>
          </a:p>
          <a:p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加分项 B 四路并行点积，总周期由 107 降至 75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BCC8A1-6A02-487D-B7CE-168B58224AFA}"/>
              </a:ext>
            </a:extLst>
          </p:cNvPr>
          <p:cNvSpPr>
            <a:spLocks noGrp="1"/>
          </p:cNvSpPr>
          <p:nvPr/>
        </p:nvSpPr>
        <p:spPr>
          <a:xfrm>
            <a:off x="6429375" y="1285875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1875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当前限制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D646BC-0410-4061-B60F-B39C1F21C415}"/>
              </a:ext>
            </a:extLst>
          </p:cNvPr>
          <p:cNvSpPr>
            <a:spLocks noGrp="1"/>
          </p:cNvSpPr>
          <p:nvPr/>
        </p:nvSpPr>
        <p:spPr>
          <a:xfrm>
            <a:off x="6429375" y="1809750"/>
            <a:ext cx="4953000" cy="200025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因果</a:t>
            </a:r>
            <a:r>
              <a:rPr sz="150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Mask </a:t>
            </a:r>
            <a:r>
              <a:rPr sz="150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需要上游提供当前</a:t>
            </a:r>
            <a:r>
              <a:rPr sz="150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Query 的 </a:t>
            </a:r>
            <a:r>
              <a:rPr sz="150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query_index</a:t>
            </a:r>
            <a:endParaRPr sz="1500" dirty="0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  <a:p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并行</a:t>
            </a:r>
            <a:r>
              <a:rPr sz="150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DOT </a:t>
            </a:r>
            <a:r>
              <a:rPr sz="150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增加</a:t>
            </a:r>
            <a:r>
              <a:rPr sz="150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3 个 Q×K </a:t>
            </a:r>
            <a:r>
              <a:rPr sz="150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乘法器，并提高</a:t>
            </a:r>
            <a:r>
              <a:rPr sz="150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K </a:t>
            </a:r>
            <a:r>
              <a:rPr sz="150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读取带宽</a:t>
            </a:r>
            <a:endParaRPr sz="1500" dirty="0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070067-0CE2-42CA-9065-DB965031A9A2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1875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E67"/>
                </a:solidFill>
                <a:latin typeface="Microsoft YaHei"/>
                <a:ea typeface="Microsoft YaHei"/>
                <a:cs typeface="Microsoft YaHei"/>
              </a:rPr>
              <a:t>工程判断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5ED8B2-908D-4078-922F-7B7B8E610790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10668000" cy="1000125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ctr">
            <a:normAutofit/>
          </a:bodyPr>
          <a:lstStyle/>
          <a:p>
            <a:pPr algn="l">
              <a:buNone/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加分项</a:t>
            </a:r>
            <a:r>
              <a:rPr sz="1575" b="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A </a:t>
            </a:r>
            <a:r>
              <a:rPr sz="1575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保证未来</a:t>
            </a:r>
            <a:r>
              <a:rPr sz="1575" b="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Key </a:t>
            </a:r>
            <a:r>
              <a:rPr sz="1575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不影响</a:t>
            </a:r>
            <a:r>
              <a:rPr sz="1575" b="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x_max</a:t>
            </a:r>
            <a:r>
              <a:rPr sz="1575" b="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 sz="1575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Weight；加分项</a:t>
            </a:r>
            <a:r>
              <a:rPr sz="1575" b="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B </a:t>
            </a:r>
            <a:r>
              <a:rPr sz="1575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保持计算结果不变，将</a:t>
            </a:r>
            <a:r>
              <a:rPr sz="1575" b="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DOT 与 NEXT 从 40 </a:t>
            </a:r>
            <a:r>
              <a:rPr sz="1575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周期降至</a:t>
            </a:r>
            <a:r>
              <a:rPr sz="1575" b="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8 </a:t>
            </a:r>
            <a:r>
              <a:rPr sz="1575" b="0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周期</a:t>
            </a:r>
            <a:r>
              <a:rPr sz="1575" b="0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869AF1-505F-4E8E-B6E9-59DE8027AF97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lIns="28575" tIns="28575" rIns="28575" bIns="28575" anchor="t">
            <a:normAutofit/>
          </a:bodyPr>
          <a:lstStyle/>
          <a:p>
            <a:pPr algn="l">
              <a:buNone/>
              <a:defRPr sz="82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873"/>
                </a:solidFill>
                <a:latin typeface="Microsoft YaHei"/>
                <a:ea typeface="Microsoft YaHei"/>
                <a:cs typeface="Microsoft YaHei"/>
              </a:rPr>
              <a:t>Attention 加速器 RTL IP</a:t>
            </a:r>
          </a:p>
        </p:txBody>
      </p:sp>
    </p:spTree>
    <p:extLst>
      <p:ext uri="{BB962C8B-B14F-4D97-AF65-F5344CB8AC3E}">
        <p14:creationId xmlns:p14="http://schemas.microsoft.com/office/powerpoint/2010/main" val="17110999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878</Words>
  <Application>Microsoft Office PowerPoint</Application>
  <DocSecurity>0</DocSecurity>
  <PresentationFormat>宽屏</PresentationFormat>
  <Paragraphs>239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wenle lin</cp:lastModifiedBy>
  <cp:revision>2</cp:revision>
  <dcterms:created xsi:type="dcterms:W3CDTF">2026-10-05T06:16:00Z</dcterms:created>
  <dcterms:modified xsi:type="dcterms:W3CDTF">2026-10-09T14:10:12Z</dcterms:modified>
</cp:coreProperties>
</file>